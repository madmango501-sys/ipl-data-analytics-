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1" r:id="rId9"/>
    <p:sldId id="268" r:id="rId10"/>
    <p:sldId id="269" r:id="rId11"/>
    <p:sldId id="270" r:id="rId12"/>
    <p:sldId id="262" r:id="rId13"/>
    <p:sldId id="271" r:id="rId14"/>
    <p:sldId id="272" r:id="rId15"/>
    <p:sldId id="273" r:id="rId16"/>
    <p:sldId id="274" r:id="rId17"/>
    <p:sldId id="275" r:id="rId18"/>
    <p:sldId id="263" r:id="rId19"/>
    <p:sldId id="264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930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[IPL_Analysis_Data.xlsx]Sheet12!PivotTable10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 Total Run By Batsman per season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Sheet12!$B$3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multiLvlStrRef>
              <c:f>Sheet12!$A$4:$A$74</c:f>
              <c:multiLvlStrCache>
                <c:ptCount val="60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2021</c:v>
                  </c:pt>
                  <c:pt idx="10">
                    <c:v>2022</c:v>
                  </c:pt>
                  <c:pt idx="11">
                    <c:v>2023</c:v>
                  </c:pt>
                  <c:pt idx="12">
                    <c:v>2018</c:v>
                  </c:pt>
                  <c:pt idx="13">
                    <c:v>2019</c:v>
                  </c:pt>
                  <c:pt idx="14">
                    <c:v>2020</c:v>
                  </c:pt>
                  <c:pt idx="15">
                    <c:v>2021</c:v>
                  </c:pt>
                  <c:pt idx="16">
                    <c:v>2022</c:v>
                  </c:pt>
                  <c:pt idx="17">
                    <c:v>2023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2018</c:v>
                  </c:pt>
                  <c:pt idx="25">
                    <c:v>2019</c:v>
                  </c:pt>
                  <c:pt idx="26">
                    <c:v>2020</c:v>
                  </c:pt>
                  <c:pt idx="27">
                    <c:v>2021</c:v>
                  </c:pt>
                  <c:pt idx="28">
                    <c:v>2022</c:v>
                  </c:pt>
                  <c:pt idx="29">
                    <c:v>2023</c:v>
                  </c:pt>
                  <c:pt idx="30">
                    <c:v>2018</c:v>
                  </c:pt>
                  <c:pt idx="31">
                    <c:v>2019</c:v>
                  </c:pt>
                  <c:pt idx="32">
                    <c:v>2020</c:v>
                  </c:pt>
                  <c:pt idx="33">
                    <c:v>2021</c:v>
                  </c:pt>
                  <c:pt idx="34">
                    <c:v>2022</c:v>
                  </c:pt>
                  <c:pt idx="35">
                    <c:v>2023</c:v>
                  </c:pt>
                  <c:pt idx="36">
                    <c:v>2018</c:v>
                  </c:pt>
                  <c:pt idx="37">
                    <c:v>2019</c:v>
                  </c:pt>
                  <c:pt idx="38">
                    <c:v>2020</c:v>
                  </c:pt>
                  <c:pt idx="39">
                    <c:v>2021</c:v>
                  </c:pt>
                  <c:pt idx="40">
                    <c:v>2022</c:v>
                  </c:pt>
                  <c:pt idx="41">
                    <c:v>2023</c:v>
                  </c:pt>
                  <c:pt idx="42">
                    <c:v>2018</c:v>
                  </c:pt>
                  <c:pt idx="43">
                    <c:v>2019</c:v>
                  </c:pt>
                  <c:pt idx="44">
                    <c:v>2020</c:v>
                  </c:pt>
                  <c:pt idx="45">
                    <c:v>2021</c:v>
                  </c:pt>
                  <c:pt idx="46">
                    <c:v>2022</c:v>
                  </c:pt>
                  <c:pt idx="47">
                    <c:v>2023</c:v>
                  </c:pt>
                  <c:pt idx="48">
                    <c:v>2018</c:v>
                  </c:pt>
                  <c:pt idx="49">
                    <c:v>2019</c:v>
                  </c:pt>
                  <c:pt idx="50">
                    <c:v>2020</c:v>
                  </c:pt>
                  <c:pt idx="51">
                    <c:v>2021</c:v>
                  </c:pt>
                  <c:pt idx="52">
                    <c:v>2022</c:v>
                  </c:pt>
                  <c:pt idx="53">
                    <c:v>2023</c:v>
                  </c:pt>
                  <c:pt idx="54">
                    <c:v>2018</c:v>
                  </c:pt>
                  <c:pt idx="55">
                    <c:v>2019</c:v>
                  </c:pt>
                  <c:pt idx="56">
                    <c:v>2020</c:v>
                  </c:pt>
                  <c:pt idx="57">
                    <c:v>2021</c:v>
                  </c:pt>
                  <c:pt idx="58">
                    <c:v>2022</c:v>
                  </c:pt>
                  <c:pt idx="59">
                    <c:v>2023</c:v>
                  </c:pt>
                </c:lvl>
                <c:lvl>
                  <c:pt idx="0">
                    <c:v>A Rahane</c:v>
                  </c:pt>
                  <c:pt idx="6">
                    <c:v>D Conway</c:v>
                  </c:pt>
                  <c:pt idx="12">
                    <c:v>F du Plessis</c:v>
                  </c:pt>
                  <c:pt idx="18">
                    <c:v>H Pandya</c:v>
                  </c:pt>
                  <c:pt idx="24">
                    <c:v>KL Rahul</c:v>
                  </c:pt>
                  <c:pt idx="30">
                    <c:v>R Gaikwad</c:v>
                  </c:pt>
                  <c:pt idx="36">
                    <c:v>R Sharma</c:v>
                  </c:pt>
                  <c:pt idx="42">
                    <c:v>S Gill</c:v>
                  </c:pt>
                  <c:pt idx="48">
                    <c:v>S Samson</c:v>
                  </c:pt>
                  <c:pt idx="54">
                    <c:v>V Kohli</c:v>
                  </c:pt>
                </c:lvl>
              </c:multiLvlStrCache>
            </c:multiLvlStrRef>
          </c:cat>
          <c:val>
            <c:numRef>
              <c:f>Sheet12!$B$4:$B$74</c:f>
              <c:numCache>
                <c:formatCode>General</c:formatCode>
                <c:ptCount val="60"/>
                <c:pt idx="0">
                  <c:v>66</c:v>
                </c:pt>
                <c:pt idx="1">
                  <c:v>75</c:v>
                </c:pt>
                <c:pt idx="2">
                  <c:v>92</c:v>
                </c:pt>
                <c:pt idx="3">
                  <c:v>65</c:v>
                </c:pt>
                <c:pt idx="4">
                  <c:v>93</c:v>
                </c:pt>
                <c:pt idx="5">
                  <c:v>71</c:v>
                </c:pt>
                <c:pt idx="6">
                  <c:v>29</c:v>
                </c:pt>
                <c:pt idx="7">
                  <c:v>85</c:v>
                </c:pt>
                <c:pt idx="8">
                  <c:v>36</c:v>
                </c:pt>
                <c:pt idx="9">
                  <c:v>62</c:v>
                </c:pt>
                <c:pt idx="10">
                  <c:v>41</c:v>
                </c:pt>
                <c:pt idx="11">
                  <c:v>39</c:v>
                </c:pt>
                <c:pt idx="12">
                  <c:v>67</c:v>
                </c:pt>
                <c:pt idx="13">
                  <c:v>79</c:v>
                </c:pt>
                <c:pt idx="14">
                  <c:v>104</c:v>
                </c:pt>
                <c:pt idx="15">
                  <c:v>30</c:v>
                </c:pt>
                <c:pt idx="16">
                  <c:v>35</c:v>
                </c:pt>
                <c:pt idx="17">
                  <c:v>95</c:v>
                </c:pt>
                <c:pt idx="18">
                  <c:v>67</c:v>
                </c:pt>
                <c:pt idx="19">
                  <c:v>34</c:v>
                </c:pt>
                <c:pt idx="20">
                  <c:v>65</c:v>
                </c:pt>
                <c:pt idx="21">
                  <c:v>43</c:v>
                </c:pt>
                <c:pt idx="22">
                  <c:v>59</c:v>
                </c:pt>
                <c:pt idx="23">
                  <c:v>62</c:v>
                </c:pt>
                <c:pt idx="24">
                  <c:v>69</c:v>
                </c:pt>
                <c:pt idx="25">
                  <c:v>61</c:v>
                </c:pt>
                <c:pt idx="26">
                  <c:v>48</c:v>
                </c:pt>
                <c:pt idx="27">
                  <c:v>28</c:v>
                </c:pt>
                <c:pt idx="28">
                  <c:v>114</c:v>
                </c:pt>
                <c:pt idx="29">
                  <c:v>48</c:v>
                </c:pt>
                <c:pt idx="30">
                  <c:v>41</c:v>
                </c:pt>
                <c:pt idx="31">
                  <c:v>56</c:v>
                </c:pt>
                <c:pt idx="32">
                  <c:v>74</c:v>
                </c:pt>
                <c:pt idx="33">
                  <c:v>44</c:v>
                </c:pt>
                <c:pt idx="34">
                  <c:v>52</c:v>
                </c:pt>
                <c:pt idx="35">
                  <c:v>36</c:v>
                </c:pt>
                <c:pt idx="36">
                  <c:v>60</c:v>
                </c:pt>
                <c:pt idx="37">
                  <c:v>67</c:v>
                </c:pt>
                <c:pt idx="38">
                  <c:v>79</c:v>
                </c:pt>
                <c:pt idx="39">
                  <c:v>89</c:v>
                </c:pt>
                <c:pt idx="40">
                  <c:v>56</c:v>
                </c:pt>
                <c:pt idx="41">
                  <c:v>59</c:v>
                </c:pt>
                <c:pt idx="42">
                  <c:v>63</c:v>
                </c:pt>
                <c:pt idx="43">
                  <c:v>41</c:v>
                </c:pt>
                <c:pt idx="44">
                  <c:v>58</c:v>
                </c:pt>
                <c:pt idx="45">
                  <c:v>46</c:v>
                </c:pt>
                <c:pt idx="46">
                  <c:v>53</c:v>
                </c:pt>
                <c:pt idx="47">
                  <c:v>58</c:v>
                </c:pt>
                <c:pt idx="48">
                  <c:v>57</c:v>
                </c:pt>
                <c:pt idx="49">
                  <c:v>33</c:v>
                </c:pt>
                <c:pt idx="50">
                  <c:v>30</c:v>
                </c:pt>
                <c:pt idx="51">
                  <c:v>88</c:v>
                </c:pt>
                <c:pt idx="52">
                  <c:v>35</c:v>
                </c:pt>
                <c:pt idx="53">
                  <c:v>54</c:v>
                </c:pt>
                <c:pt idx="54">
                  <c:v>60</c:v>
                </c:pt>
                <c:pt idx="55">
                  <c:v>50</c:v>
                </c:pt>
                <c:pt idx="56">
                  <c:v>105</c:v>
                </c:pt>
                <c:pt idx="57">
                  <c:v>65</c:v>
                </c:pt>
                <c:pt idx="58">
                  <c:v>60</c:v>
                </c:pt>
                <c:pt idx="59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95-4CA0-961A-8EC6830094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13554096"/>
        <c:axId val="1713554576"/>
      </c:barChart>
      <c:catAx>
        <c:axId val="1713554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3554576"/>
        <c:crosses val="autoZero"/>
        <c:auto val="1"/>
        <c:lblAlgn val="ctr"/>
        <c:lblOffset val="100"/>
        <c:noMultiLvlLbl val="0"/>
      </c:catAx>
      <c:valAx>
        <c:axId val="171355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3554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[IPL_Analysis_Data.xlsx]Sheet25!PivotTable21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 Total Wicket By Bowler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Sheet25!$B$3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B96-4A8E-8359-1ABC4D40E2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5B96-4A8E-8359-1ABC4D40E2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5B96-4A8E-8359-1ABC4D40E2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5B96-4A8E-8359-1ABC4D40E26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5B96-4A8E-8359-1ABC4D40E266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5B96-4A8E-8359-1ABC4D40E266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5B96-4A8E-8359-1ABC4D40E266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5B96-4A8E-8359-1ABC4D40E266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5B96-4A8E-8359-1ABC4D40E266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5B96-4A8E-8359-1ABC4D40E266}"/>
              </c:ext>
            </c:extLst>
          </c:dPt>
          <c:cat>
            <c:strRef>
              <c:f>Sheet25!$A$4:$A$14</c:f>
              <c:strCache>
                <c:ptCount val="10"/>
                <c:pt idx="0">
                  <c:v>A Khan</c:v>
                </c:pt>
                <c:pt idx="1">
                  <c:v>B Kumar</c:v>
                </c:pt>
                <c:pt idx="2">
                  <c:v>J Bumrah</c:v>
                </c:pt>
                <c:pt idx="3">
                  <c:v>K Yadav</c:v>
                </c:pt>
                <c:pt idx="4">
                  <c:v>M Shami</c:v>
                </c:pt>
                <c:pt idx="5">
                  <c:v>M Siraj</c:v>
                </c:pt>
                <c:pt idx="6">
                  <c:v>M Wood</c:v>
                </c:pt>
                <c:pt idx="7">
                  <c:v>P Chawla</c:v>
                </c:pt>
                <c:pt idx="8">
                  <c:v>R Ashwin</c:v>
                </c:pt>
                <c:pt idx="9">
                  <c:v>T Natarajan</c:v>
                </c:pt>
              </c:strCache>
            </c:strRef>
          </c:cat>
          <c:val>
            <c:numRef>
              <c:f>Sheet25!$B$4:$B$14</c:f>
              <c:numCache>
                <c:formatCode>General</c:formatCode>
                <c:ptCount val="10"/>
                <c:pt idx="0">
                  <c:v>118</c:v>
                </c:pt>
                <c:pt idx="1">
                  <c:v>134</c:v>
                </c:pt>
                <c:pt idx="2">
                  <c:v>96</c:v>
                </c:pt>
                <c:pt idx="3">
                  <c:v>130</c:v>
                </c:pt>
                <c:pt idx="4">
                  <c:v>126</c:v>
                </c:pt>
                <c:pt idx="5">
                  <c:v>124</c:v>
                </c:pt>
                <c:pt idx="6">
                  <c:v>120</c:v>
                </c:pt>
                <c:pt idx="7">
                  <c:v>113</c:v>
                </c:pt>
                <c:pt idx="8">
                  <c:v>109</c:v>
                </c:pt>
                <c:pt idx="9">
                  <c:v>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B96-4A8E-8359-1ABC4D40E2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195363079615033"/>
          <c:y val="0.11392169728783902"/>
          <c:w val="0.16637970253718284"/>
          <c:h val="0.771552566345873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[IPL_Analysis_Data.xlsx]Sheet31!PivotTable25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Total Run by Team Per Season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Sheet31!$B$3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Sheet31!$A$4:$A$74</c:f>
              <c:multiLvlStrCache>
                <c:ptCount val="60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2021</c:v>
                  </c:pt>
                  <c:pt idx="10">
                    <c:v>2022</c:v>
                  </c:pt>
                  <c:pt idx="11">
                    <c:v>2023</c:v>
                  </c:pt>
                  <c:pt idx="12">
                    <c:v>2018</c:v>
                  </c:pt>
                  <c:pt idx="13">
                    <c:v>2019</c:v>
                  </c:pt>
                  <c:pt idx="14">
                    <c:v>2020</c:v>
                  </c:pt>
                  <c:pt idx="15">
                    <c:v>2021</c:v>
                  </c:pt>
                  <c:pt idx="16">
                    <c:v>2022</c:v>
                  </c:pt>
                  <c:pt idx="17">
                    <c:v>2023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2018</c:v>
                  </c:pt>
                  <c:pt idx="25">
                    <c:v>2019</c:v>
                  </c:pt>
                  <c:pt idx="26">
                    <c:v>2020</c:v>
                  </c:pt>
                  <c:pt idx="27">
                    <c:v>2021</c:v>
                  </c:pt>
                  <c:pt idx="28">
                    <c:v>2022</c:v>
                  </c:pt>
                  <c:pt idx="29">
                    <c:v>2023</c:v>
                  </c:pt>
                  <c:pt idx="30">
                    <c:v>2018</c:v>
                  </c:pt>
                  <c:pt idx="31">
                    <c:v>2019</c:v>
                  </c:pt>
                  <c:pt idx="32">
                    <c:v>2020</c:v>
                  </c:pt>
                  <c:pt idx="33">
                    <c:v>2021</c:v>
                  </c:pt>
                  <c:pt idx="34">
                    <c:v>2022</c:v>
                  </c:pt>
                  <c:pt idx="35">
                    <c:v>2023</c:v>
                  </c:pt>
                  <c:pt idx="36">
                    <c:v>2018</c:v>
                  </c:pt>
                  <c:pt idx="37">
                    <c:v>2019</c:v>
                  </c:pt>
                  <c:pt idx="38">
                    <c:v>2020</c:v>
                  </c:pt>
                  <c:pt idx="39">
                    <c:v>2021</c:v>
                  </c:pt>
                  <c:pt idx="40">
                    <c:v>2022</c:v>
                  </c:pt>
                  <c:pt idx="41">
                    <c:v>2023</c:v>
                  </c:pt>
                  <c:pt idx="42">
                    <c:v>2018</c:v>
                  </c:pt>
                  <c:pt idx="43">
                    <c:v>2019</c:v>
                  </c:pt>
                  <c:pt idx="44">
                    <c:v>2020</c:v>
                  </c:pt>
                  <c:pt idx="45">
                    <c:v>2021</c:v>
                  </c:pt>
                  <c:pt idx="46">
                    <c:v>2022</c:v>
                  </c:pt>
                  <c:pt idx="47">
                    <c:v>2023</c:v>
                  </c:pt>
                  <c:pt idx="48">
                    <c:v>2018</c:v>
                  </c:pt>
                  <c:pt idx="49">
                    <c:v>2019</c:v>
                  </c:pt>
                  <c:pt idx="50">
                    <c:v>2020</c:v>
                  </c:pt>
                  <c:pt idx="51">
                    <c:v>2021</c:v>
                  </c:pt>
                  <c:pt idx="52">
                    <c:v>2022</c:v>
                  </c:pt>
                  <c:pt idx="53">
                    <c:v>2023</c:v>
                  </c:pt>
                  <c:pt idx="54">
                    <c:v>2018</c:v>
                  </c:pt>
                  <c:pt idx="55">
                    <c:v>2019</c:v>
                  </c:pt>
                  <c:pt idx="56">
                    <c:v>2020</c:v>
                  </c:pt>
                  <c:pt idx="57">
                    <c:v>2021</c:v>
                  </c:pt>
                  <c:pt idx="58">
                    <c:v>2022</c:v>
                  </c:pt>
                  <c:pt idx="59">
                    <c:v>2023</c:v>
                  </c:pt>
                </c:lvl>
                <c:lvl>
                  <c:pt idx="0">
                    <c:v>CSK</c:v>
                  </c:pt>
                  <c:pt idx="6">
                    <c:v>DC</c:v>
                  </c:pt>
                  <c:pt idx="12">
                    <c:v>GT</c:v>
                  </c:pt>
                  <c:pt idx="18">
                    <c:v>KKR</c:v>
                  </c:pt>
                  <c:pt idx="24">
                    <c:v>LSG</c:v>
                  </c:pt>
                  <c:pt idx="30">
                    <c:v>MI</c:v>
                  </c:pt>
                  <c:pt idx="36">
                    <c:v>PBKS</c:v>
                  </c:pt>
                  <c:pt idx="42">
                    <c:v>RCB</c:v>
                  </c:pt>
                  <c:pt idx="48">
                    <c:v>RR</c:v>
                  </c:pt>
                  <c:pt idx="54">
                    <c:v>SRH</c:v>
                  </c:pt>
                </c:lvl>
              </c:multiLvlStrCache>
            </c:multiLvlStrRef>
          </c:cat>
          <c:val>
            <c:numRef>
              <c:f>Sheet31!$B$4:$B$74</c:f>
              <c:numCache>
                <c:formatCode>General</c:formatCode>
                <c:ptCount val="60"/>
                <c:pt idx="0">
                  <c:v>52</c:v>
                </c:pt>
                <c:pt idx="1">
                  <c:v>66</c:v>
                </c:pt>
                <c:pt idx="2">
                  <c:v>52</c:v>
                </c:pt>
                <c:pt idx="3">
                  <c:v>33</c:v>
                </c:pt>
                <c:pt idx="4">
                  <c:v>59</c:v>
                </c:pt>
                <c:pt idx="5">
                  <c:v>64</c:v>
                </c:pt>
                <c:pt idx="6">
                  <c:v>58</c:v>
                </c:pt>
                <c:pt idx="7">
                  <c:v>64</c:v>
                </c:pt>
                <c:pt idx="8">
                  <c:v>44</c:v>
                </c:pt>
                <c:pt idx="9">
                  <c:v>63</c:v>
                </c:pt>
                <c:pt idx="10">
                  <c:v>56</c:v>
                </c:pt>
                <c:pt idx="11">
                  <c:v>57</c:v>
                </c:pt>
                <c:pt idx="12">
                  <c:v>68</c:v>
                </c:pt>
                <c:pt idx="13">
                  <c:v>58</c:v>
                </c:pt>
                <c:pt idx="14">
                  <c:v>66</c:v>
                </c:pt>
                <c:pt idx="15">
                  <c:v>81</c:v>
                </c:pt>
                <c:pt idx="16">
                  <c:v>86</c:v>
                </c:pt>
                <c:pt idx="17">
                  <c:v>56</c:v>
                </c:pt>
                <c:pt idx="18">
                  <c:v>48</c:v>
                </c:pt>
                <c:pt idx="19">
                  <c:v>57</c:v>
                </c:pt>
                <c:pt idx="20">
                  <c:v>106</c:v>
                </c:pt>
                <c:pt idx="21">
                  <c:v>65</c:v>
                </c:pt>
                <c:pt idx="22">
                  <c:v>41</c:v>
                </c:pt>
                <c:pt idx="23">
                  <c:v>50</c:v>
                </c:pt>
                <c:pt idx="24">
                  <c:v>42</c:v>
                </c:pt>
                <c:pt idx="25">
                  <c:v>55</c:v>
                </c:pt>
                <c:pt idx="26">
                  <c:v>67</c:v>
                </c:pt>
                <c:pt idx="27">
                  <c:v>64</c:v>
                </c:pt>
                <c:pt idx="28">
                  <c:v>63</c:v>
                </c:pt>
                <c:pt idx="29">
                  <c:v>51</c:v>
                </c:pt>
                <c:pt idx="30">
                  <c:v>82</c:v>
                </c:pt>
                <c:pt idx="31">
                  <c:v>57</c:v>
                </c:pt>
                <c:pt idx="32">
                  <c:v>89</c:v>
                </c:pt>
                <c:pt idx="33">
                  <c:v>89</c:v>
                </c:pt>
                <c:pt idx="34">
                  <c:v>61</c:v>
                </c:pt>
                <c:pt idx="35">
                  <c:v>52</c:v>
                </c:pt>
                <c:pt idx="36">
                  <c:v>71</c:v>
                </c:pt>
                <c:pt idx="37">
                  <c:v>53</c:v>
                </c:pt>
                <c:pt idx="38">
                  <c:v>76</c:v>
                </c:pt>
                <c:pt idx="39">
                  <c:v>28</c:v>
                </c:pt>
                <c:pt idx="40">
                  <c:v>60</c:v>
                </c:pt>
                <c:pt idx="41">
                  <c:v>95</c:v>
                </c:pt>
                <c:pt idx="42">
                  <c:v>66</c:v>
                </c:pt>
                <c:pt idx="43">
                  <c:v>55</c:v>
                </c:pt>
                <c:pt idx="44">
                  <c:v>60</c:v>
                </c:pt>
                <c:pt idx="45">
                  <c:v>67</c:v>
                </c:pt>
                <c:pt idx="46">
                  <c:v>87</c:v>
                </c:pt>
                <c:pt idx="47">
                  <c:v>45</c:v>
                </c:pt>
                <c:pt idx="48">
                  <c:v>36</c:v>
                </c:pt>
                <c:pt idx="49">
                  <c:v>66</c:v>
                </c:pt>
                <c:pt idx="50">
                  <c:v>76</c:v>
                </c:pt>
                <c:pt idx="51">
                  <c:v>37</c:v>
                </c:pt>
                <c:pt idx="52">
                  <c:v>34</c:v>
                </c:pt>
                <c:pt idx="53">
                  <c:v>35</c:v>
                </c:pt>
                <c:pt idx="54">
                  <c:v>56</c:v>
                </c:pt>
                <c:pt idx="55">
                  <c:v>50</c:v>
                </c:pt>
                <c:pt idx="56">
                  <c:v>55</c:v>
                </c:pt>
                <c:pt idx="57">
                  <c:v>33</c:v>
                </c:pt>
                <c:pt idx="58">
                  <c:v>51</c:v>
                </c:pt>
                <c:pt idx="59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15-4E1B-8824-58A9E9B45D4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710323776"/>
        <c:axId val="1710309376"/>
      </c:barChart>
      <c:catAx>
        <c:axId val="171032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0309376"/>
        <c:crosses val="autoZero"/>
        <c:auto val="1"/>
        <c:lblAlgn val="ctr"/>
        <c:lblOffset val="100"/>
        <c:noMultiLvlLbl val="0"/>
      </c:catAx>
      <c:valAx>
        <c:axId val="171030937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710323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68553"/>
            <a:ext cx="7772400" cy="1470025"/>
          </a:xfrm>
        </p:spPr>
        <p:txBody>
          <a:bodyPr/>
          <a:lstStyle/>
          <a:p>
            <a:r>
              <a:rPr b="1" dirty="0">
                <a:latin typeface="Monotype Corsiva" panose="03010101010201010101" pitchFamily="66" charset="0"/>
              </a:rPr>
              <a:t>IPL Data Analytics &amp; Reporting using Excel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5004" y="3429000"/>
            <a:ext cx="6793992" cy="2276856"/>
          </a:xfrm>
        </p:spPr>
        <p:txBody>
          <a:bodyPr>
            <a:normAutofit fontScale="92500" lnSpcReduction="20000"/>
          </a:bodyPr>
          <a:lstStyle/>
          <a:p>
            <a:r>
              <a:rPr b="1" dirty="0"/>
              <a:t>Subject</a:t>
            </a:r>
            <a:r>
              <a:rPr dirty="0"/>
              <a:t>: Data Analytics and Reporting</a:t>
            </a:r>
          </a:p>
          <a:p>
            <a:r>
              <a:rPr b="1" dirty="0"/>
              <a:t>Prepared by</a:t>
            </a:r>
            <a:r>
              <a:rPr dirty="0"/>
              <a:t>: Aman </a:t>
            </a:r>
            <a:r>
              <a:rPr dirty="0" err="1"/>
              <a:t>Kushwah</a:t>
            </a:r>
            <a:r>
              <a:rPr lang="en-IN" dirty="0"/>
              <a:t>a(202410101150081)</a:t>
            </a:r>
          </a:p>
          <a:p>
            <a:r>
              <a:rPr lang="en-IN" dirty="0"/>
              <a:t>              : Faisal Ansari(202410101150078) </a:t>
            </a:r>
          </a:p>
          <a:p>
            <a:r>
              <a:rPr lang="en-IN" dirty="0"/>
              <a:t> </a:t>
            </a:r>
            <a:r>
              <a:rPr b="1" dirty="0"/>
              <a:t>Course</a:t>
            </a:r>
            <a:r>
              <a:rPr dirty="0"/>
              <a:t>: </a:t>
            </a:r>
            <a:r>
              <a:rPr dirty="0" err="1"/>
              <a:t>B.Tech</a:t>
            </a:r>
            <a:r>
              <a:rPr lang="en-IN" dirty="0"/>
              <a:t> CSE(DS+AI),Group:- 33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5D7309-14AE-3D9C-7D6C-18B2B20F9822}"/>
              </a:ext>
            </a:extLst>
          </p:cNvPr>
          <p:cNvSpPr txBox="1"/>
          <p:nvPr/>
        </p:nvSpPr>
        <p:spPr>
          <a:xfrm>
            <a:off x="3771748" y="2697480"/>
            <a:ext cx="1600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SUMMARY PPT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56AB5E-FF93-5D78-285F-77F3A130349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678"/>
            <a:ext cx="8229600" cy="1143000"/>
          </a:xfrm>
        </p:spPr>
        <p:txBody>
          <a:bodyPr/>
          <a:lstStyle/>
          <a:p>
            <a:r>
              <a:rPr b="1" dirty="0">
                <a:latin typeface="Monotype Corsiva" panose="03010101010201010101" pitchFamily="66" charset="0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00885"/>
            <a:ext cx="8229600" cy="2203704"/>
          </a:xfrm>
        </p:spPr>
        <p:txBody>
          <a:bodyPr>
            <a:noAutofit/>
          </a:bodyPr>
          <a:lstStyle/>
          <a:p>
            <a:r>
              <a:rPr sz="3600" dirty="0">
                <a:latin typeface="Monotype Corsiva" panose="03010101010201010101" pitchFamily="66" charset="0"/>
              </a:rPr>
              <a:t>To analyze IPL match performance data using Excel to identify trends, top-performing teams and players, and visualize results through pivot tables and dashboards.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5D364-650F-3212-12AC-5191AE7B463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Monotype Corsiva" panose="03010101010201010101" pitchFamily="66" charset="0"/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• Dataset Name: IPL_Analysis_Data.xlsx</a:t>
            </a:r>
          </a:p>
          <a:p>
            <a:r>
              <a:t>• Rows: 1,200</a:t>
            </a:r>
          </a:p>
          <a:p>
            <a:r>
              <a:t>• Columns: 12</a:t>
            </a:r>
          </a:p>
          <a:p>
            <a:r>
              <a:t>• Seasons: 2018–2023</a:t>
            </a:r>
          </a:p>
          <a:p>
            <a:r>
              <a:t>• Data Fields: Match_ID, Team_Batting, Team_Bowling, Batsman, Bowler, Over, Runs, Wickets, etc.</a:t>
            </a:r>
          </a:p>
          <a:p>
            <a:r>
              <a:t>• Dataset generated using realistic IPL match data.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69F4A9-5E16-8AF5-D046-942F05868AAA}"/>
              </a:ext>
            </a:extLst>
          </p:cNvPr>
          <p:cNvSpPr/>
          <p:nvPr/>
        </p:nvSpPr>
        <p:spPr>
          <a:xfrm>
            <a:off x="0" y="2032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Monotype Corsiva" panose="03010101010201010101" pitchFamily="66" charset="0"/>
              </a:rPr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286001"/>
            <a:ext cx="7955280" cy="3182112"/>
          </a:xfrm>
        </p:spPr>
        <p:txBody>
          <a:bodyPr/>
          <a:lstStyle/>
          <a:p>
            <a:r>
              <a:rPr dirty="0"/>
              <a:t>• Removed duplicates</a:t>
            </a:r>
          </a:p>
          <a:p>
            <a:r>
              <a:rPr dirty="0"/>
              <a:t>• Handled missing values (replaced with 0 or NA)</a:t>
            </a:r>
          </a:p>
          <a:p>
            <a:r>
              <a:rPr dirty="0"/>
              <a:t>• Formatted column names and data types</a:t>
            </a:r>
          </a:p>
          <a:p>
            <a:r>
              <a:rPr dirty="0"/>
              <a:t>• Added filters for easy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E0157E-D08E-A1B0-1693-B590B2713F9D}"/>
              </a:ext>
            </a:extLst>
          </p:cNvPr>
          <p:cNvSpPr/>
          <p:nvPr/>
        </p:nvSpPr>
        <p:spPr>
          <a:xfrm>
            <a:off x="0" y="1016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79B5CA-92B6-0269-C75C-93A95C9214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784" y="1937400"/>
            <a:ext cx="8229600" cy="425389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4B80F9-08E0-3CE7-45E1-8752930CD31D}"/>
              </a:ext>
            </a:extLst>
          </p:cNvPr>
          <p:cNvSpPr txBox="1"/>
          <p:nvPr/>
        </p:nvSpPr>
        <p:spPr>
          <a:xfrm>
            <a:off x="849691" y="905256"/>
            <a:ext cx="7316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>
                <a:latin typeface="Monotype Corsiva" panose="03010101010201010101" pitchFamily="66" charset="0"/>
              </a:rPr>
              <a:t>After performing data Cleaning step we got this data set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C31724-CC77-B8B9-164A-8EBC69A99EA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99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Monotype Corsiva" panose="03010101010201010101" pitchFamily="66" charset="0"/>
              </a:rPr>
              <a:t>Formulas and Functions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1993391"/>
          </a:xfrm>
        </p:spPr>
        <p:txBody>
          <a:bodyPr/>
          <a:lstStyle/>
          <a:p>
            <a:r>
              <a:rPr dirty="0"/>
              <a:t>• SUM(), AVERAGE(), MAX(), MIN()</a:t>
            </a:r>
          </a:p>
          <a:p>
            <a:r>
              <a:rPr dirty="0"/>
              <a:t>• COUNTIF(), SUMIF(), AVERAGEIF()</a:t>
            </a:r>
          </a:p>
          <a:p>
            <a:r>
              <a:rPr dirty="0"/>
              <a:t>• IF() for classifying high/low performers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5DDDAA-8F75-DAA9-D585-3006845E8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94" y="3446972"/>
            <a:ext cx="7964011" cy="30388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415011A-76F2-1BE2-A607-38AA895D82E6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8A91-1C7A-448F-AD53-6D66024EF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0948"/>
            <a:ext cx="8229600" cy="1143000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Monotype Corsiva" panose="03010101010201010101" pitchFamily="66" charset="0"/>
              </a:rPr>
              <a:t>Conditional Formatting for highlighting top scores and wicket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0B1E78C-F581-EB52-8A77-845C42742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644" y="1600200"/>
            <a:ext cx="7982712" cy="506577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1011B6-7CD1-ECD2-8455-5E0DE9DF8E8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352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Monotype Corsiva" panose="03010101010201010101" pitchFamily="66" charset="0"/>
              </a:rPr>
              <a:t>Pivot Table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45337"/>
            <a:ext cx="8229600" cy="621791"/>
          </a:xfrm>
        </p:spPr>
        <p:txBody>
          <a:bodyPr/>
          <a:lstStyle/>
          <a:p>
            <a:r>
              <a:rPr dirty="0"/>
              <a:t>• </a:t>
            </a:r>
            <a:r>
              <a:rPr dirty="0">
                <a:latin typeface="Bookman Old Style" panose="02050604050505020204" pitchFamily="18" charset="0"/>
              </a:rPr>
              <a:t>Total Runs by Batting Team</a:t>
            </a:r>
            <a:r>
              <a:rPr lang="en-IN" dirty="0">
                <a:latin typeface="Bookman Old Style" panose="02050604050505020204" pitchFamily="18" charset="0"/>
              </a:rPr>
              <a:t>=3580</a:t>
            </a:r>
            <a:endParaRPr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7BAB2-FE24-6D4C-D0B2-35F09336F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08" y="2519108"/>
            <a:ext cx="8688012" cy="364858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4B57894-BA40-27DF-6B9F-A19930B51D9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2AC3-54C7-FEE3-BE4C-87271DD8A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5106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Monotype Corsiva" panose="03010101010201010101" pitchFamily="66" charset="0"/>
              </a:rPr>
              <a:t>Total Wickets by Bowler</a:t>
            </a:r>
            <a:br>
              <a:rPr lang="en-US" b="1" dirty="0">
                <a:latin typeface="Monotype Corsiva" panose="03010101010201010101" pitchFamily="66" charset="0"/>
              </a:rPr>
            </a:br>
            <a:endParaRPr lang="en-IN" b="1" dirty="0">
              <a:latin typeface="Monotype Corsiva" panose="03010101010201010101" pitchFamily="66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157CF93-AB29-8CCA-F79C-4EFEC1106E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90922"/>
            <a:ext cx="8229600" cy="354451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6957A7F-EF8B-595F-EFB2-C790B3C70A6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698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A0C33-74CA-34C2-3A17-75E6BFD8F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CA100-0410-5739-ED7E-924AE376D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17" y="612966"/>
            <a:ext cx="8229600" cy="80467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Monotype Corsiva" panose="03010101010201010101" pitchFamily="66" charset="0"/>
              </a:rPr>
              <a:t>Highest Score on one Ball</a:t>
            </a:r>
          </a:p>
          <a:p>
            <a:pPr algn="ctr"/>
            <a:r>
              <a:rPr lang="en-US" sz="3600" b="1" dirty="0">
                <a:latin typeface="Monotype Corsiva" panose="03010101010201010101" pitchFamily="66" charset="0"/>
              </a:rPr>
              <a:t>Total Run, Average Run per Ball</a:t>
            </a:r>
          </a:p>
          <a:p>
            <a:pPr algn="ctr"/>
            <a:endParaRPr lang="en-US" sz="3600" b="1" dirty="0">
              <a:latin typeface="Monotype Corsiva" panose="03010101010201010101" pitchFamily="66" charset="0"/>
            </a:endParaRPr>
          </a:p>
          <a:p>
            <a:pPr algn="ctr"/>
            <a:endParaRPr lang="en-US" sz="3600" b="1" dirty="0">
              <a:latin typeface="Monotype Corsiva" panose="03010101010201010101" pitchFamily="66" charset="0"/>
            </a:endParaRPr>
          </a:p>
          <a:p>
            <a:pPr algn="ctr"/>
            <a:endParaRPr lang="en-IN" sz="3600" b="1" dirty="0">
              <a:latin typeface="Monotype Corsiva" panose="03010101010201010101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C3C8E-4804-21F5-269B-B7F0D186B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54" y="2313432"/>
            <a:ext cx="7240327" cy="331012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3400E4-E214-F94F-78D9-DA7282842F0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965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CBE0-F07D-F765-DE98-C40F3328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0896"/>
            <a:ext cx="8229600" cy="1883664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Monotype Corsiva" panose="03010101010201010101" pitchFamily="66" charset="0"/>
              </a:rPr>
              <a:t>Created Pivot Tables for quick summarization of  Total Run By Batsman per season</a:t>
            </a:r>
            <a:br>
              <a:rPr lang="en-US" b="1" dirty="0">
                <a:latin typeface="Monotype Corsiva" panose="03010101010201010101" pitchFamily="66" charset="0"/>
              </a:rPr>
            </a:br>
            <a:endParaRPr lang="en-IN" b="1" dirty="0">
              <a:latin typeface="Monotype Corsiva" panose="03010101010201010101" pitchFamily="66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9B7994-D75E-40DD-9565-A5BBA4306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0845964"/>
              </p:ext>
            </p:extLst>
          </p:nvPr>
        </p:nvGraphicFramePr>
        <p:xfrm>
          <a:off x="219456" y="1600200"/>
          <a:ext cx="8741664" cy="5138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06368B2-177B-8580-51FC-68F447FCC88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900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Monotype Corsiva" panose="03010101010201010101" pitchFamily="66" charset="0"/>
              </a:rPr>
              <a:t>Charts and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781812"/>
          </a:xfrm>
        </p:spPr>
        <p:txBody>
          <a:bodyPr>
            <a:normAutofit/>
          </a:bodyPr>
          <a:lstStyle/>
          <a:p>
            <a:pPr algn="ctr"/>
            <a:r>
              <a:rPr sz="3600" b="1" dirty="0">
                <a:latin typeface="Monotype Corsiva" panose="03010101010201010101" pitchFamily="66" charset="0"/>
              </a:rPr>
              <a:t>Column Chart – Team-wise Total Runs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990252-8802-9E90-BC1D-F3B741CCF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52" y="2432622"/>
            <a:ext cx="8573696" cy="378195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82A869F-2447-4EAA-0EE8-60F2D28E42F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65752-C09D-D1FA-5D94-B5F0F9B8E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Monotype Corsiva" panose="03010101010201010101" pitchFamily="66" charset="0"/>
              </a:rPr>
              <a:t>Pie Chart – % of Wickets per Bowler</a:t>
            </a:r>
            <a:endParaRPr lang="en-IN" sz="3600" b="1" dirty="0">
              <a:latin typeface="Monotype Corsiva" panose="03010101010201010101" pitchFamily="66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2D9429-93D3-6538-65F8-2CEB8955A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0183" y="2268111"/>
            <a:ext cx="2915057" cy="2934109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97E5DE5-CD24-E1D8-97B1-2DB4E51B76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3302453"/>
              </p:ext>
            </p:extLst>
          </p:nvPr>
        </p:nvGraphicFramePr>
        <p:xfrm>
          <a:off x="4114800" y="236356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45D7F9F-4297-365C-9DDA-A55700DCEF2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64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67AC-F784-1C14-237E-7D8AA6EA2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Monotype Corsiva" panose="03010101010201010101" pitchFamily="66" charset="0"/>
              </a:rPr>
              <a:t>• Line Chart – Season-wise Run Trends</a:t>
            </a:r>
            <a:br>
              <a:rPr lang="en-US" sz="3600" b="1" dirty="0">
                <a:latin typeface="Monotype Corsiva" panose="03010101010201010101" pitchFamily="66" charset="0"/>
              </a:rPr>
            </a:br>
            <a:endParaRPr lang="en-IN" sz="3600" b="1" dirty="0">
              <a:latin typeface="Monotype Corsiva" panose="03010101010201010101" pitchFamily="66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347E717-9ADF-0CFC-2FE1-136924D08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65808"/>
            <a:ext cx="8229600" cy="359474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F87601-A812-CA4D-5DB1-B9479A08CAE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544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E74E-FB4E-6737-A786-7154CADEA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Monotype Corsiva" panose="03010101010201010101" pitchFamily="66" charset="0"/>
              </a:rPr>
              <a:t>Count of wicket per wicket type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D40C2C0-884F-AC12-D300-5C591C7BF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206574"/>
            <a:ext cx="8229600" cy="331321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713AD09-FA7B-B020-52ED-93279F4B1EA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170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2A39B-9C55-0F97-BDC1-5C2E36C2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Monotype Corsiva" panose="03010101010201010101" pitchFamily="66" charset="0"/>
              </a:rPr>
              <a:t>Count of wicket per over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C9879B-2352-E22E-FD48-C387D01CD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216" y="1600200"/>
            <a:ext cx="7955280" cy="45259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605A2A-E6D9-8421-E244-CF50CB8D8F8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892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A3B6-5A66-ED86-40AE-3D0E43657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Monotype Corsiva" panose="03010101010201010101" pitchFamily="66" charset="0"/>
              </a:rPr>
              <a:t>Total Run By Team Per Season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198638-D284-95D8-600E-161AC94DC8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063140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962E2AC-BFE8-BF7D-8CE3-73BDF2991BF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872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C33E56-5B13-C859-A384-6186173BC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904" y="1417639"/>
            <a:ext cx="8467344" cy="535806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D46FA7-407B-46C7-568F-737E5E5840D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Monotype Corsiva" panose="03010101010201010101" pitchFamily="66" charset="0"/>
              </a:rPr>
              <a:t>Insights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• </a:t>
            </a:r>
            <a:r>
              <a:rPr lang="en-IN" dirty="0"/>
              <a:t>MI </a:t>
            </a:r>
            <a:r>
              <a:rPr dirty="0"/>
              <a:t>recorded the highest total runs</a:t>
            </a:r>
          </a:p>
          <a:p>
            <a:r>
              <a:rPr dirty="0"/>
              <a:t>• </a:t>
            </a:r>
            <a:r>
              <a:rPr lang="en-IN" dirty="0"/>
              <a:t>B Kumar</a:t>
            </a:r>
            <a:r>
              <a:rPr dirty="0"/>
              <a:t> and </a:t>
            </a:r>
            <a:r>
              <a:rPr lang="en-IN" dirty="0"/>
              <a:t>K</a:t>
            </a:r>
            <a:r>
              <a:rPr dirty="0"/>
              <a:t> </a:t>
            </a:r>
            <a:r>
              <a:rPr lang="en-IN" dirty="0"/>
              <a:t>Yadav</a:t>
            </a:r>
            <a:r>
              <a:rPr dirty="0"/>
              <a:t> took most wickets</a:t>
            </a:r>
          </a:p>
          <a:p>
            <a:r>
              <a:rPr dirty="0"/>
              <a:t>• Average runs per ball ≈ </a:t>
            </a:r>
            <a:r>
              <a:rPr lang="en-IN" dirty="0"/>
              <a:t>2.98</a:t>
            </a:r>
            <a:endParaRPr dirty="0"/>
          </a:p>
          <a:p>
            <a:r>
              <a:rPr dirty="0"/>
              <a:t>• Most wickets occurred </a:t>
            </a:r>
            <a:r>
              <a:rPr lang="en-IN" dirty="0"/>
              <a:t>in </a:t>
            </a:r>
            <a:r>
              <a:rPr dirty="0"/>
              <a:t>overs </a:t>
            </a:r>
            <a:r>
              <a:rPr lang="en-IN" dirty="0"/>
              <a:t>4,8,14</a:t>
            </a:r>
            <a:endParaRPr dirty="0"/>
          </a:p>
          <a:p>
            <a:r>
              <a:rPr dirty="0"/>
              <a:t>• ‘</a:t>
            </a:r>
            <a:r>
              <a:rPr lang="en-IN" dirty="0"/>
              <a:t>Stumped</a:t>
            </a:r>
            <a:r>
              <a:rPr dirty="0"/>
              <a:t>' was the most frequent wicket type</a:t>
            </a:r>
          </a:p>
          <a:p>
            <a:r>
              <a:rPr dirty="0"/>
              <a:t>• </a:t>
            </a:r>
            <a:r>
              <a:rPr lang="en-IN" dirty="0"/>
              <a:t>CSK</a:t>
            </a:r>
            <a:r>
              <a:rPr dirty="0"/>
              <a:t> and MI are consistent scoring teams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BDCB57-BD3B-9913-3A4E-5D18ECDD508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Monotype Corsiva" panose="03010101010201010101" pitchFamily="66" charset="0"/>
              </a:rPr>
              <a:t>Conclusion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• Successfully analyzed IPL match data using Excel tools</a:t>
            </a:r>
          </a:p>
          <a:p>
            <a:r>
              <a:t>• Identified top players and team performances</a:t>
            </a:r>
          </a:p>
          <a:p>
            <a:r>
              <a:t>• Created interactive visualizations for reporting</a:t>
            </a:r>
          </a:p>
          <a:p>
            <a:endParaRPr/>
          </a:p>
          <a:p>
            <a:r>
              <a:t>References:</a:t>
            </a:r>
          </a:p>
          <a:p>
            <a:r>
              <a:t>• Dataset generated using Python simulation</a:t>
            </a:r>
          </a:p>
          <a:p>
            <a:r>
              <a:t>• IPL reference: www.iplt20.com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75795F-6CD0-C9F6-9C4B-540508D2B9E6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411</Words>
  <Application>Microsoft Office PowerPoint</Application>
  <PresentationFormat>On-screen Show (4:3)</PresentationFormat>
  <Paragraphs>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Bookman Old Style</vt:lpstr>
      <vt:lpstr>Calibri</vt:lpstr>
      <vt:lpstr>Monotype Corsiva</vt:lpstr>
      <vt:lpstr>Office Theme</vt:lpstr>
      <vt:lpstr>IPL Data Analytics &amp; Reporting using Excel</vt:lpstr>
      <vt:lpstr>Project Objective</vt:lpstr>
      <vt:lpstr>Dataset Description</vt:lpstr>
      <vt:lpstr>Data Cleaning Steps</vt:lpstr>
      <vt:lpstr>PowerPoint Presentation</vt:lpstr>
      <vt:lpstr>Formulas and Functions Used</vt:lpstr>
      <vt:lpstr>Conditional Formatting for highlighting top scores and wicket</vt:lpstr>
      <vt:lpstr>Pivot Table Analysis</vt:lpstr>
      <vt:lpstr>Total Wickets by Bowler </vt:lpstr>
      <vt:lpstr> </vt:lpstr>
      <vt:lpstr>Created Pivot Tables for quick summarization of  Total Run By Batsman per season </vt:lpstr>
      <vt:lpstr>Charts and Visualizations</vt:lpstr>
      <vt:lpstr>Pie Chart – % of Wickets per Bowler</vt:lpstr>
      <vt:lpstr>• Line Chart – Season-wise Run Trends </vt:lpstr>
      <vt:lpstr>Count of wicket per wicket type</vt:lpstr>
      <vt:lpstr>Count of wicket per over</vt:lpstr>
      <vt:lpstr>Total Run By Team Per Season</vt:lpstr>
      <vt:lpstr>Dashboard Overview</vt:lpstr>
      <vt:lpstr>Insights &amp; Findings</vt:lpstr>
      <vt:lpstr>Conclusion &amp;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Kushwaha</cp:lastModifiedBy>
  <cp:revision>2</cp:revision>
  <dcterms:created xsi:type="dcterms:W3CDTF">2013-01-27T09:14:16Z</dcterms:created>
  <dcterms:modified xsi:type="dcterms:W3CDTF">2025-11-09T05:31:28Z</dcterms:modified>
  <cp:category/>
</cp:coreProperties>
</file>